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We're presenting CampusShare Storage — a peer-to-peer marketplace that lets university students store belongings with each other, right on campus. Over the next ten minutes we'll walk you through our strategy, data model, and process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over a million international students face the same crisis — their lease ends in May but their flight home isn't until June, and they have no practical place to store three months' worth of belongings. Commercial storage exists, but it's expensive, it requires a vehicle, and it's designed for suburban homeowners, not carless college students.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CampusShare connects these two groups that already live together. A Renter submits a booking request; a Host accepts. Both are verified members of the same campus. The item handover happens at a mutually agreed on-campus location — no truck, no drive, no storage facility account required.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real and calculable. At a mid-sized university with 5,000 international students, if each stores an average of $300 worth of goods over the summer, the addressable gross merchandise value exceeds $1.5 million per campus per year. CampusShare takes 10%, which is $150,000 in annual revenue from a single campus — before any insurance add-on.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serious force is substitution — students have real alternatives like U-Haul or asking a friend. But those options require a vehicle, trust in a stranger, or large costs. No current competitor sits at the intersection of verified student identity, campus proximity, and short-term peer storage. That's our whitespace.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Porter warns against being 'stuck in the middle' — trying to be cheap and differentiated without focus. We've deliberately chosen the bottom-right quadrant: narrow scope, high differentiation. The .edu wall, the review system, the on-campus proximity — these create a value proposition that a general marketplace can't replicate and a big storage company has no reason to build.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is simple and per-transaction. We take 10% when a booking completes — no payment until value is delivered. The insurance add-on is optional at checkout; it covers the Renter's declared item value for loss or damage. We deliberately excluded subscriptions and advertising because they'd either conflict with the student value prop or require scale we don't yet have.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model has nine entities organized in three layers. Everything flows through Booking — it's the central hub that connects the Renter, the Listing, and all downstream records. We modeled Host and Renter as roles of a single Student entity rather than separate entities, because the same person can flip between both roles over time. Booking and Review are associative entities — they resolve many-to-many relationships and carry their own attributes.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Porter's value chain shows how each operational stage reinforces our strategy. Inbound and Marketing use the .edu wall to keep both sides verified. Operations uses data-driven matching to reduce friction. Outbound keeps logistics on-campus — walkable. And Service builds the trust asset that makes each subsequent transaction easier. Every activity is bounded by the campus, which is what makes the model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BPMN shows the full booking lifecycle in BPMN 2.0 using a Database Interaction Layout. Every step that touches data has a dashed arrow connecting it to the correct database entity. The two sub-processes encapsulate complexity: Payment Processing hides the Stripe API interaction, and Dispute Handling isolates the exception path so it doesn't clutter the main success 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distinctive ethical risk isn't any single data point — it's the combination. Name plus address plus item photos creates a profile that could enable targeted theft, especially for international students who may struggle to engage local law enforcement. We've mitigated this by withholding addresses until a booking is confirmed and automatically purging item photos after 90 days. As for the future — once this model works on one campus, a cross-campus consortium is the natural next move.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CampusShare is not trying to replace U-Haul. We're building something U-Haul cannot build: a trusted peer community within a single campus, gated by student identity. The moat gets stronger with every transaction — more reviews, more trust, more Hosts onboarded. We believe this model works at one campus, and then scales campus by campus. Thank you —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566160"/>
            <a:ext cx="12188952" cy="73152"/>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11091672" cy="1645920"/>
          </a:xfrm>
          <a:prstGeom prst="rect">
            <a:avLst/>
          </a:prstGeom>
          <a:noFill/>
        </p:spPr>
        <p:txBody>
          <a:bodyPr wrap="square">
            <a:spAutoFit/>
          </a:bodyPr>
          <a:lstStyle/>
          <a:p>
            <a:pPr algn="ctr">
              <a:spcBef>
                <a:spcPts val="0"/>
              </a:spcBef>
            </a:pPr>
            <a:r>
              <a:rPr sz="4400" b="1">
                <a:solidFill>
                  <a:srgbClr val="FFFFFF"/>
                </a:solidFill>
                <a:latin typeface="Calibri"/>
              </a:rPr>
              <a:t>CampusShare Storage</a:t>
            </a:r>
          </a:p>
        </p:txBody>
      </p:sp>
      <p:sp>
        <p:nvSpPr>
          <p:cNvPr id="5" name="TextBox 4"/>
          <p:cNvSpPr txBox="1"/>
          <p:nvPr/>
        </p:nvSpPr>
        <p:spPr>
          <a:xfrm>
            <a:off x="548640" y="2651760"/>
            <a:ext cx="11091672" cy="822960"/>
          </a:xfrm>
          <a:prstGeom prst="rect">
            <a:avLst/>
          </a:prstGeom>
          <a:noFill/>
        </p:spPr>
        <p:txBody>
          <a:bodyPr wrap="square">
            <a:spAutoFit/>
          </a:bodyPr>
          <a:lstStyle/>
          <a:p>
            <a:pPr algn="ctr">
              <a:spcBef>
                <a:spcPts val="0"/>
              </a:spcBef>
            </a:pPr>
            <a:r>
              <a:rPr sz="2400" b="0">
                <a:solidFill>
                  <a:srgbClr val="CCD9EA"/>
                </a:solidFill>
                <a:latin typeface="Calibri"/>
              </a:rPr>
              <a:t>The Campus P2P Storage Marketplace</a:t>
            </a:r>
          </a:p>
        </p:txBody>
      </p:sp>
      <p:sp>
        <p:nvSpPr>
          <p:cNvPr id="6" name="TextBox 5"/>
          <p:cNvSpPr txBox="1"/>
          <p:nvPr/>
        </p:nvSpPr>
        <p:spPr>
          <a:xfrm>
            <a:off x="548640" y="3840480"/>
            <a:ext cx="11091672" cy="1645920"/>
          </a:xfrm>
          <a:prstGeom prst="rect">
            <a:avLst/>
          </a:prstGeom>
          <a:noFill/>
        </p:spPr>
        <p:txBody>
          <a:bodyPr wrap="square">
            <a:spAutoFit/>
          </a:bodyPr>
          <a:lstStyle/>
          <a:p>
            <a:pPr algn="ctr">
              <a:spcBef>
                <a:spcPts val="600"/>
              </a:spcBef>
            </a:pPr>
            <a:r>
              <a:rPr sz="1600" b="0">
                <a:solidFill>
                  <a:srgbClr val="CCD9EA"/>
                </a:solidFill>
                <a:latin typeface="Calibri"/>
              </a:rPr>
              <a:t>MIDS301 Introduction to Information — Spring 2026</a:t>
            </a:r>
          </a:p>
          <a:p>
            <a:pPr algn="ctr">
              <a:spcBef>
                <a:spcPts val="600"/>
              </a:spcBef>
            </a:pPr>
            <a:r>
              <a:rPr sz="1500" b="0">
                <a:solidFill>
                  <a:srgbClr val="CCD9EA"/>
                </a:solidFill>
                <a:latin typeface="Calibri"/>
              </a:rPr>
              <a:t>Group members: [insert names]</a:t>
            </a:r>
          </a:p>
          <a:p>
            <a:pPr algn="ctr">
              <a:spcBef>
                <a:spcPts val="600"/>
              </a:spcBef>
            </a:pPr>
            <a:r>
              <a:rPr sz="1500" b="0">
                <a:solidFill>
                  <a:srgbClr val="CCD9EA"/>
                </a:solidFill>
                <a:latin typeface="Calibri"/>
              </a:rPr>
              <a:t>Presentation date: [insert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The Problem</a:t>
            </a:r>
          </a:p>
          <a:p>
            <a:pPr algn="l">
              <a:spcBef>
                <a:spcPts val="0"/>
              </a:spcBef>
            </a:pPr>
            <a:r>
              <a:rPr sz="1400" b="0">
                <a:solidFill>
                  <a:srgbClr val="CCD9EA"/>
                </a:solidFill>
                <a:latin typeface="Calibri"/>
              </a:rPr>
              <a:t>1.1 million international students. Nowhere to store their things.</a:t>
            </a:r>
          </a:p>
        </p:txBody>
      </p:sp>
      <p:sp>
        <p:nvSpPr>
          <p:cNvPr id="4" name="TextBox 3"/>
          <p:cNvSpPr txBox="1"/>
          <p:nvPr/>
        </p:nvSpPr>
        <p:spPr>
          <a:xfrm>
            <a:off x="548640" y="1417320"/>
            <a:ext cx="11091672" cy="5029200"/>
          </a:xfrm>
          <a:prstGeom prst="rect">
            <a:avLst/>
          </a:prstGeom>
          <a:noFill/>
        </p:spPr>
        <p:txBody>
          <a:bodyPr wrap="square">
            <a:spAutoFit/>
          </a:bodyPr>
          <a:lstStyle/>
          <a:p>
            <a:pPr algn="l">
              <a:spcBef>
                <a:spcPts val="800"/>
              </a:spcBef>
            </a:pPr>
            <a:r>
              <a:rPr sz="2000" b="1">
                <a:solidFill>
                  <a:srgbClr val="1A1A1A"/>
                </a:solidFill>
                <a:latin typeface="Calibri"/>
              </a:rPr>
              <a:t>• 1,126,690 international students enrolled in U.S. universities (IIE, 2024)</a:t>
            </a:r>
          </a:p>
          <a:p>
            <a:pPr algn="l">
              <a:spcBef>
                <a:spcPts val="800"/>
              </a:spcBef>
            </a:pPr>
            <a:r>
              <a:rPr sz="2000" b="0">
                <a:solidFill>
                  <a:srgbClr val="1A1A1A"/>
                </a:solidFill>
                <a:latin typeface="Calibri"/>
              </a:rPr>
              <a:t>• Commercial storage averages $150/month — miles from campus</a:t>
            </a:r>
          </a:p>
          <a:p>
            <a:pPr algn="l">
              <a:spcBef>
                <a:spcPts val="800"/>
              </a:spcBef>
            </a:pPr>
            <a:r>
              <a:rPr sz="2000" b="0">
                <a:solidFill>
                  <a:srgbClr val="1A1A1A"/>
                </a:solidFill>
                <a:latin typeface="Calibri"/>
              </a:rPr>
              <a:t>• No car, no truck, no local family — access is the real barrier</a:t>
            </a:r>
          </a:p>
          <a:p>
            <a:pPr algn="l">
              <a:spcBef>
                <a:spcPts val="800"/>
              </a:spcBef>
            </a:pPr>
            <a:r>
              <a:rPr sz="2000" b="0">
                <a:solidFill>
                  <a:srgbClr val="1A1A1A"/>
                </a:solidFill>
                <a:latin typeface="Calibri"/>
              </a:rPr>
              <a:t>• Summer housing ends; belongings have no place to go</a:t>
            </a:r>
          </a:p>
        </p:txBody>
      </p:sp>
      <p:sp>
        <p:nvSpPr>
          <p:cNvPr id="5" name="Rectangle 4"/>
          <p:cNvSpPr/>
          <p:nvPr/>
        </p:nvSpPr>
        <p:spPr>
          <a:xfrm>
            <a:off x="2743200" y="5577840"/>
            <a:ext cx="6675120" cy="4572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34640" y="5577840"/>
            <a:ext cx="6492240" cy="457200"/>
          </a:xfrm>
          <a:prstGeom prst="rect">
            <a:avLst/>
          </a:prstGeom>
          <a:noFill/>
        </p:spPr>
        <p:txBody>
          <a:bodyPr wrap="none">
            <a:spAutoFit/>
          </a:bodyPr>
          <a:lstStyle/>
          <a:p>
            <a:pPr algn="ctr">
              <a:spcBef>
                <a:spcPts val="0"/>
              </a:spcBef>
            </a:pPr>
            <a:r>
              <a:rPr sz="1600" b="1">
                <a:solidFill>
                  <a:srgbClr val="FFFFFF"/>
                </a:solidFill>
                <a:latin typeface="Calibri"/>
              </a:rPr>
              <a:t>$150/month  |  Miles away  |  No vehicle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Our Solution</a:t>
            </a:r>
          </a:p>
          <a:p>
            <a:pPr algn="l">
              <a:spcBef>
                <a:spcPts val="0"/>
              </a:spcBef>
            </a:pPr>
            <a:r>
              <a:rPr sz="1400" b="0">
                <a:solidFill>
                  <a:srgbClr val="CCD9EA"/>
                </a:solidFill>
                <a:latin typeface="Calibri"/>
              </a:rPr>
              <a:t>.edu-verified peer storage, walking distance, no truck needed</a:t>
            </a:r>
          </a:p>
        </p:txBody>
      </p:sp>
      <p:sp>
        <p:nvSpPr>
          <p:cNvPr id="4" name="TextBox 3"/>
          <p:cNvSpPr txBox="1"/>
          <p:nvPr/>
        </p:nvSpPr>
        <p:spPr>
          <a:xfrm>
            <a:off x="548640" y="1417320"/>
            <a:ext cx="11091672" cy="5029200"/>
          </a:xfrm>
          <a:prstGeom prst="rect">
            <a:avLst/>
          </a:prstGeom>
          <a:noFill/>
        </p:spPr>
        <p:txBody>
          <a:bodyPr wrap="square">
            <a:spAutoFit/>
          </a:bodyPr>
          <a:lstStyle/>
          <a:p>
            <a:pPr algn="l">
              <a:spcBef>
                <a:spcPts val="800"/>
              </a:spcBef>
            </a:pPr>
            <a:r>
              <a:rPr sz="2000" b="0">
                <a:solidFill>
                  <a:srgbClr val="1A1A1A"/>
                </a:solidFill>
                <a:latin typeface="Calibri"/>
              </a:rPr>
              <a:t>• Students with unused space become Hosts and earn passive income</a:t>
            </a:r>
          </a:p>
          <a:p>
            <a:pPr algn="l">
              <a:spcBef>
                <a:spcPts val="800"/>
              </a:spcBef>
            </a:pPr>
            <a:r>
              <a:rPr sz="2000" b="0">
                <a:solidFill>
                  <a:srgbClr val="1A1A1A"/>
                </a:solidFill>
                <a:latin typeface="Calibri"/>
              </a:rPr>
              <a:t>• Students needing storage become Renters — book online in minutes</a:t>
            </a:r>
          </a:p>
          <a:p>
            <a:pPr algn="l">
              <a:spcBef>
                <a:spcPts val="800"/>
              </a:spcBef>
            </a:pPr>
            <a:r>
              <a:rPr sz="2000" b="1">
                <a:solidFill>
                  <a:srgbClr val="1A1A1A"/>
                </a:solidFill>
                <a:latin typeface="Calibri"/>
              </a:rPr>
              <a:t>• Both sides verified with .edu email — same campus community</a:t>
            </a:r>
          </a:p>
          <a:p>
            <a:pPr algn="l">
              <a:spcBef>
                <a:spcPts val="800"/>
              </a:spcBef>
            </a:pPr>
            <a:r>
              <a:rPr sz="2000" b="0">
                <a:solidFill>
                  <a:srgbClr val="1A1A1A"/>
                </a:solidFill>
                <a:latin typeface="Calibri"/>
              </a:rPr>
              <a:t>• Flexible terms: 1 week to 3 months</a:t>
            </a:r>
          </a:p>
          <a:p>
            <a:pPr algn="l">
              <a:spcBef>
                <a:spcPts val="800"/>
              </a:spcBef>
            </a:pPr>
            <a:r>
              <a:rPr sz="2000" b="0">
                <a:solidFill>
                  <a:srgbClr val="1A1A1A"/>
                </a:solidFill>
                <a:latin typeface="Calibri"/>
              </a:rPr>
              <a:t>• Physical handover happens on campus, on foot</a:t>
            </a:r>
          </a:p>
        </p:txBody>
      </p:sp>
      <p:sp>
        <p:nvSpPr>
          <p:cNvPr id="5" name="Rectangle 4"/>
          <p:cNvSpPr/>
          <p:nvPr/>
        </p:nvSpPr>
        <p:spPr>
          <a:xfrm>
            <a:off x="2286000" y="5577840"/>
            <a:ext cx="7589520" cy="4572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377440" y="5577840"/>
            <a:ext cx="7406640" cy="457200"/>
          </a:xfrm>
          <a:prstGeom prst="rect">
            <a:avLst/>
          </a:prstGeom>
          <a:noFill/>
        </p:spPr>
        <p:txBody>
          <a:bodyPr wrap="none">
            <a:spAutoFit/>
          </a:bodyPr>
          <a:lstStyle/>
          <a:p>
            <a:pPr algn="ctr">
              <a:spcBef>
                <a:spcPts val="0"/>
              </a:spcBef>
            </a:pPr>
            <a:r>
              <a:rPr sz="1600" b="1">
                <a:solidFill>
                  <a:srgbClr val="FFFFFF"/>
                </a:solidFill>
                <a:latin typeface="Calibri"/>
              </a:rPr>
              <a:t>Renter  ←→  Platform (.edu verified)  ←→  Host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Market &amp; Customer</a:t>
            </a:r>
          </a:p>
          <a:p>
            <a:pPr algn="l">
              <a:spcBef>
                <a:spcPts val="0"/>
              </a:spcBef>
            </a:pPr>
            <a:r>
              <a:rPr sz="1400" b="0">
                <a:solidFill>
                  <a:srgbClr val="CCD9EA"/>
                </a:solidFill>
                <a:latin typeface="Calibri"/>
              </a:rPr>
              <a:t>$1.5M addressable GMV per campus — at one mid-sized university</a:t>
            </a:r>
          </a:p>
        </p:txBody>
      </p:sp>
      <p:sp>
        <p:nvSpPr>
          <p:cNvPr id="4" name="TextBox 3"/>
          <p:cNvSpPr txBox="1"/>
          <p:nvPr/>
        </p:nvSpPr>
        <p:spPr>
          <a:xfrm>
            <a:off x="548640" y="1417320"/>
            <a:ext cx="11091672" cy="5029200"/>
          </a:xfrm>
          <a:prstGeom prst="rect">
            <a:avLst/>
          </a:prstGeom>
          <a:noFill/>
        </p:spPr>
        <p:txBody>
          <a:bodyPr wrap="square">
            <a:spAutoFit/>
          </a:bodyPr>
          <a:lstStyle/>
          <a:p>
            <a:pPr algn="l">
              <a:spcBef>
                <a:spcPts val="800"/>
              </a:spcBef>
            </a:pPr>
            <a:r>
              <a:rPr sz="1900" b="1">
                <a:solidFill>
                  <a:srgbClr val="1A1A1A"/>
                </a:solidFill>
                <a:latin typeface="Calibri"/>
              </a:rPr>
              <a:t>• Primary: international students — summer storage need is structural</a:t>
            </a:r>
          </a:p>
          <a:p>
            <a:pPr algn="l">
              <a:spcBef>
                <a:spcPts val="800"/>
              </a:spcBef>
            </a:pPr>
            <a:r>
              <a:rPr sz="1900" b="0">
                <a:solidFill>
                  <a:srgbClr val="1A1A1A"/>
                </a:solidFill>
                <a:latin typeface="Calibri"/>
              </a:rPr>
              <a:t>• Secondary: domestic students between leases or on internship</a:t>
            </a:r>
          </a:p>
          <a:p>
            <a:pPr algn="l">
              <a:spcBef>
                <a:spcPts val="800"/>
              </a:spcBef>
            </a:pPr>
            <a:r>
              <a:rPr sz="1900" b="0">
                <a:solidFill>
                  <a:srgbClr val="1A1A1A"/>
                </a:solidFill>
                <a:latin typeface="Calibri"/>
              </a:rPr>
              <a:t>• Scope: one university at launch (single-campus, by design)</a:t>
            </a:r>
          </a:p>
          <a:p>
            <a:pPr algn="l">
              <a:spcBef>
                <a:spcPts val="800"/>
              </a:spcBef>
            </a:pPr>
            <a:r>
              <a:rPr sz="1900" b="1">
                <a:solidFill>
                  <a:srgbClr val="1A1A1A"/>
                </a:solidFill>
                <a:latin typeface="Calibri"/>
              </a:rPr>
              <a:t>• 5,000 international students × avg. $300 stored goods = $1.5M GMV</a:t>
            </a:r>
          </a:p>
          <a:p>
            <a:pPr algn="l">
              <a:spcBef>
                <a:spcPts val="800"/>
              </a:spcBef>
            </a:pPr>
            <a:r>
              <a:rPr sz="1900" b="1">
                <a:solidFill>
                  <a:srgbClr val="1A1A1A"/>
                </a:solidFill>
                <a:latin typeface="Calibri"/>
              </a:rPr>
              <a:t>• CampusShare at 10% commission = $150K annual revenue per campus</a:t>
            </a:r>
          </a:p>
        </p:txBody>
      </p:sp>
      <p:sp>
        <p:nvSpPr>
          <p:cNvPr id="5" name="Rectangle 4"/>
          <p:cNvSpPr/>
          <p:nvPr/>
        </p:nvSpPr>
        <p:spPr>
          <a:xfrm>
            <a:off x="2743200" y="5394960"/>
            <a:ext cx="6675120" cy="777240"/>
          </a:xfrm>
          <a:prstGeom prst="rect">
            <a:avLst/>
          </a:prstGeom>
          <a:solidFill>
            <a:srgbClr val="E8F0F8"/>
          </a:solidFill>
          <a:ln w="15240">
            <a:solidFill>
              <a:srgbClr val="2E5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34640" y="5440680"/>
            <a:ext cx="6492240" cy="685800"/>
          </a:xfrm>
          <a:prstGeom prst="rect">
            <a:avLst/>
          </a:prstGeom>
          <a:noFill/>
        </p:spPr>
        <p:txBody>
          <a:bodyPr wrap="square">
            <a:spAutoFit/>
          </a:bodyPr>
          <a:lstStyle/>
          <a:p>
            <a:pPr algn="ctr">
              <a:spcBef>
                <a:spcPts val="0"/>
              </a:spcBef>
            </a:pPr>
            <a:r>
              <a:rPr sz="1500" b="1">
                <a:solidFill>
                  <a:srgbClr val="1B3A5C"/>
                </a:solidFill>
                <a:latin typeface="Calibri"/>
              </a:rPr>
              <a:t>5,000 students × $300 = $1.5M GMV  →  $150K revenue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Porter's Five Forces</a:t>
            </a:r>
          </a:p>
          <a:p>
            <a:pPr algn="l">
              <a:spcBef>
                <a:spcPts val="0"/>
              </a:spcBef>
            </a:pPr>
            <a:r>
              <a:rPr sz="1400" b="0">
                <a:solidFill>
                  <a:srgbClr val="CCD9EA"/>
                </a:solidFill>
                <a:latin typeface="Calibri"/>
              </a:rPr>
              <a:t>Highest risk: substitutes.  Biggest moat: .edu trust + network effects</a:t>
            </a:r>
          </a:p>
        </p:txBody>
      </p:sp>
      <p:sp>
        <p:nvSpPr>
          <p:cNvPr id="4" name="TextBox 3"/>
          <p:cNvSpPr txBox="1"/>
          <p:nvPr/>
        </p:nvSpPr>
        <p:spPr>
          <a:xfrm>
            <a:off x="548640" y="1417320"/>
            <a:ext cx="6400800" cy="5029200"/>
          </a:xfrm>
          <a:prstGeom prst="rect">
            <a:avLst/>
          </a:prstGeom>
          <a:noFill/>
        </p:spPr>
        <p:txBody>
          <a:bodyPr wrap="square">
            <a:spAutoFit/>
          </a:bodyPr>
          <a:lstStyle/>
          <a:p>
            <a:pPr algn="l">
              <a:spcBef>
                <a:spcPts val="800"/>
              </a:spcBef>
            </a:pPr>
            <a:r>
              <a:rPr sz="1700" b="0">
                <a:solidFill>
                  <a:srgbClr val="1A1A1A"/>
                </a:solidFill>
                <a:latin typeface="Calibri"/>
              </a:rPr>
              <a:t>• Threat of New Entrants — Moderate: low tech barrier, but .edu trust wall + review moat take time</a:t>
            </a:r>
          </a:p>
          <a:p>
            <a:pPr algn="l">
              <a:spcBef>
                <a:spcPts val="800"/>
              </a:spcBef>
            </a:pPr>
            <a:r>
              <a:rPr sz="1700" b="0">
                <a:solidFill>
                  <a:srgbClr val="1A1A1A"/>
                </a:solidFill>
                <a:latin typeface="Calibri"/>
              </a:rPr>
              <a:t>• Suppliers (Hosts) — Low–Moderate: review reputation creates soft lock-in</a:t>
            </a:r>
          </a:p>
          <a:p>
            <a:pPr algn="l">
              <a:spcBef>
                <a:spcPts val="800"/>
              </a:spcBef>
            </a:pPr>
            <a:r>
              <a:rPr sz="1700" b="0">
                <a:solidFill>
                  <a:srgbClr val="1A1A1A"/>
                </a:solidFill>
                <a:latin typeface="Calibri"/>
              </a:rPr>
              <a:t>• Buyers (Renters) — Moderate: proximity advantage dampens switching</a:t>
            </a:r>
          </a:p>
          <a:p>
            <a:pPr algn="l">
              <a:spcBef>
                <a:spcPts val="800"/>
              </a:spcBef>
            </a:pPr>
            <a:r>
              <a:rPr sz="1700" b="1">
                <a:solidFill>
                  <a:srgbClr val="1A1A1A"/>
                </a:solidFill>
                <a:latin typeface="Calibri"/>
              </a:rPr>
              <a:t>• Substitutes — HIGH ⚠: U-Haul, Public Storage, friend storage, shipping home</a:t>
            </a:r>
          </a:p>
          <a:p>
            <a:pPr algn="l">
              <a:spcBef>
                <a:spcPts val="800"/>
              </a:spcBef>
            </a:pPr>
            <a:r>
              <a:rPr sz="1700" b="0">
                <a:solidFill>
                  <a:srgbClr val="1A1A1A"/>
                </a:solidFill>
                <a:latin typeface="Calibri"/>
              </a:rPr>
              <a:t>• Rivalry — Low–Moderate: no .edu-gated campus P2P storage competitor today</a:t>
            </a:r>
          </a:p>
        </p:txBody>
      </p:sp>
      <p:sp>
        <p:nvSpPr>
          <p:cNvPr id="5" name="Rectangle 4"/>
          <p:cNvSpPr/>
          <p:nvPr/>
        </p:nvSpPr>
        <p:spPr>
          <a:xfrm>
            <a:off x="7132320" y="1417320"/>
            <a:ext cx="4572000" cy="4754880"/>
          </a:xfrm>
          <a:prstGeom prst="rect">
            <a:avLst/>
          </a:prstGeom>
          <a:solidFill>
            <a:srgbClr val="F2F2F2"/>
          </a:solidFill>
          <a:ln w="1524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3520440"/>
            <a:ext cx="4389120" cy="548640"/>
          </a:xfrm>
          <a:prstGeom prst="rect">
            <a:avLst/>
          </a:prstGeom>
          <a:noFill/>
        </p:spPr>
        <p:txBody>
          <a:bodyPr wrap="square">
            <a:spAutoFit/>
          </a:bodyPr>
          <a:lstStyle/>
          <a:p>
            <a:pPr algn="ctr">
              <a:spcBef>
                <a:spcPts val="0"/>
              </a:spcBef>
            </a:pPr>
            <a:r>
              <a:rPr sz="1400" b="0">
                <a:solidFill>
                  <a:srgbClr val="AAAAAA"/>
                </a:solidFill>
                <a:latin typeface="Calibri"/>
              </a:rPr>
              <a:t>[ Insert porter_five_forces.png here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Generic Strategy</a:t>
            </a:r>
          </a:p>
          <a:p>
            <a:pPr algn="l">
              <a:spcBef>
                <a:spcPts val="0"/>
              </a:spcBef>
            </a:pPr>
            <a:r>
              <a:rPr sz="1400" b="0">
                <a:solidFill>
                  <a:srgbClr val="CCD9EA"/>
                </a:solidFill>
                <a:latin typeface="Calibri"/>
              </a:rPr>
              <a:t>Focused Differentiation — not cheap, not broad, deeply trusted</a:t>
            </a:r>
          </a:p>
        </p:txBody>
      </p:sp>
      <p:sp>
        <p:nvSpPr>
          <p:cNvPr id="4" name="TextBox 3"/>
          <p:cNvSpPr txBox="1"/>
          <p:nvPr/>
        </p:nvSpPr>
        <p:spPr>
          <a:xfrm>
            <a:off x="548640" y="1417320"/>
            <a:ext cx="11091672" cy="5029200"/>
          </a:xfrm>
          <a:prstGeom prst="rect">
            <a:avLst/>
          </a:prstGeom>
          <a:noFill/>
        </p:spPr>
        <p:txBody>
          <a:bodyPr wrap="square">
            <a:spAutoFit/>
          </a:bodyPr>
          <a:lstStyle/>
          <a:p>
            <a:pPr algn="l">
              <a:spcBef>
                <a:spcPts val="800"/>
              </a:spcBef>
            </a:pPr>
            <a:r>
              <a:rPr sz="1900" b="1">
                <a:solidFill>
                  <a:srgbClr val="1A1A1A"/>
                </a:solidFill>
                <a:latin typeface="Calibri"/>
              </a:rPr>
              <a:t>• Focus: one campus, one verified community — not the whole storage market</a:t>
            </a:r>
          </a:p>
          <a:p>
            <a:pPr algn="l">
              <a:spcBef>
                <a:spcPts val="800"/>
              </a:spcBef>
            </a:pPr>
            <a:r>
              <a:rPr sz="1900" b="1">
                <a:solidFill>
                  <a:srgbClr val="1A1A1A"/>
                </a:solidFill>
                <a:latin typeface="Calibri"/>
              </a:rPr>
              <a:t>• Differentiation: .edu identity + walking distance + photo documentation + dual reviews</a:t>
            </a:r>
          </a:p>
          <a:p>
            <a:pPr algn="l">
              <a:spcBef>
                <a:spcPts val="800"/>
              </a:spcBef>
            </a:pPr>
            <a:r>
              <a:rPr sz="1900" b="0">
                <a:solidFill>
                  <a:srgbClr val="1A1A1A"/>
                </a:solidFill>
                <a:latin typeface="Calibri"/>
              </a:rPr>
              <a:t>• Not Cost Leadership: can't out-scale U-Haul on unit cost as a new entrant</a:t>
            </a:r>
          </a:p>
          <a:p>
            <a:pPr algn="l">
              <a:spcBef>
                <a:spcPts val="800"/>
              </a:spcBef>
            </a:pPr>
            <a:r>
              <a:rPr sz="1900" b="0">
                <a:solidFill>
                  <a:srgbClr val="1A1A1A"/>
                </a:solidFill>
                <a:latin typeface="Calibri"/>
              </a:rPr>
              <a:t>• Not Broad Differentiation: expanding scope before PMF = stuck in the middle</a:t>
            </a:r>
          </a:p>
          <a:p>
            <a:pPr algn="l">
              <a:spcBef>
                <a:spcPts val="800"/>
              </a:spcBef>
            </a:pPr>
            <a:r>
              <a:rPr sz="1900" b="0">
                <a:solidFill>
                  <a:srgbClr val="1A1A1A"/>
                </a:solidFill>
                <a:latin typeface="Calibri"/>
              </a:rPr>
              <a:t>• Porter (1985): attempting both without focus risks losing to everyone</a:t>
            </a:r>
          </a:p>
        </p:txBody>
      </p:sp>
      <p:sp>
        <p:nvSpPr>
          <p:cNvPr id="5" name="Rectangle 4"/>
          <p:cNvSpPr/>
          <p:nvPr/>
        </p:nvSpPr>
        <p:spPr>
          <a:xfrm>
            <a:off x="1828800" y="5577840"/>
            <a:ext cx="8503920" cy="457200"/>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20240" y="5577840"/>
            <a:ext cx="8321040" cy="457200"/>
          </a:xfrm>
          <a:prstGeom prst="rect">
            <a:avLst/>
          </a:prstGeom>
          <a:noFill/>
        </p:spPr>
        <p:txBody>
          <a:bodyPr wrap="none">
            <a:spAutoFit/>
          </a:bodyPr>
          <a:lstStyle/>
          <a:p>
            <a:pPr algn="ctr">
              <a:spcBef>
                <a:spcPts val="0"/>
              </a:spcBef>
            </a:pPr>
            <a:r>
              <a:rPr sz="1600" b="1">
                <a:solidFill>
                  <a:srgbClr val="FFFFFF"/>
                </a:solidFill>
                <a:latin typeface="Calibri"/>
              </a:rPr>
              <a:t>Position: Focused Differentiation (narrow scope + high differentiation)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Revenue Model</a:t>
            </a:r>
          </a:p>
          <a:p>
            <a:pPr algn="l">
              <a:spcBef>
                <a:spcPts val="0"/>
              </a:spcBef>
            </a:pPr>
            <a:r>
              <a:rPr sz="1400" b="0">
                <a:solidFill>
                  <a:srgbClr val="CCD9EA"/>
                </a:solidFill>
                <a:latin typeface="Calibri"/>
              </a:rPr>
              <a:t>10% commission + optional insurance — simple, aligned, scalable</a:t>
            </a:r>
          </a:p>
        </p:txBody>
      </p:sp>
      <p:sp>
        <p:nvSpPr>
          <p:cNvPr id="4" name="TextBox 3"/>
          <p:cNvSpPr txBox="1"/>
          <p:nvPr/>
        </p:nvSpPr>
        <p:spPr>
          <a:xfrm>
            <a:off x="548640" y="1417320"/>
            <a:ext cx="11091672" cy="5029200"/>
          </a:xfrm>
          <a:prstGeom prst="rect">
            <a:avLst/>
          </a:prstGeom>
          <a:noFill/>
        </p:spPr>
        <p:txBody>
          <a:bodyPr wrap="square">
            <a:spAutoFit/>
          </a:bodyPr>
          <a:lstStyle/>
          <a:p>
            <a:pPr algn="l">
              <a:spcBef>
                <a:spcPts val="800"/>
              </a:spcBef>
            </a:pPr>
            <a:r>
              <a:rPr sz="1900" b="1">
                <a:solidFill>
                  <a:srgbClr val="1A1A1A"/>
                </a:solidFill>
                <a:latin typeface="Calibri"/>
              </a:rPr>
              <a:t>• Primary: 10% platform commission on each completed booking (auto-deducted)</a:t>
            </a:r>
          </a:p>
          <a:p>
            <a:pPr algn="l">
              <a:spcBef>
                <a:spcPts val="800"/>
              </a:spcBef>
            </a:pPr>
            <a:r>
              <a:rPr sz="1900" b="1">
                <a:solidFill>
                  <a:srgbClr val="1A1A1A"/>
                </a:solidFill>
                <a:latin typeface="Calibri"/>
              </a:rPr>
              <a:t>• Secondary: optional insurance add-on, $5–$15 per booking (tiered by declared value)</a:t>
            </a:r>
          </a:p>
          <a:p>
            <a:pPr algn="l">
              <a:spcBef>
                <a:spcPts val="800"/>
              </a:spcBef>
            </a:pPr>
            <a:r>
              <a:rPr sz="1900" b="0">
                <a:solidFill>
                  <a:srgbClr val="1A1A1A"/>
                </a:solidFill>
                <a:latin typeface="Calibri"/>
              </a:rPr>
              <a:t>• Airbnb comparison: host ~3% + guest 14–16% = far higher take rate (Airbnb, 2023)</a:t>
            </a:r>
          </a:p>
          <a:p>
            <a:pPr algn="l">
              <a:spcBef>
                <a:spcPts val="800"/>
              </a:spcBef>
            </a:pPr>
            <a:r>
              <a:rPr sz="1900" b="0">
                <a:solidFill>
                  <a:srgbClr val="1A1A1A"/>
                </a:solidFill>
                <a:latin typeface="Calibri"/>
              </a:rPr>
              <a:t>• No subscriptions — conflicts with 'save money' positioning</a:t>
            </a:r>
          </a:p>
          <a:p>
            <a:pPr algn="l">
              <a:spcBef>
                <a:spcPts val="800"/>
              </a:spcBef>
            </a:pPr>
            <a:r>
              <a:rPr sz="1900" b="0">
                <a:solidFill>
                  <a:srgbClr val="1A1A1A"/>
                </a:solidFill>
                <a:latin typeface="Calibri"/>
              </a:rPr>
              <a:t>• No ads — user base too small at launch to monetize attention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Information Design — ERD</a:t>
            </a:r>
          </a:p>
          <a:p>
            <a:pPr algn="l">
              <a:spcBef>
                <a:spcPts val="0"/>
              </a:spcBef>
            </a:pPr>
            <a:r>
              <a:rPr sz="1400" b="0">
                <a:solidFill>
                  <a:srgbClr val="CCD9EA"/>
                </a:solidFill>
                <a:latin typeface="Calibri"/>
              </a:rPr>
              <a:t>9 entities, 2 associative entities — Booking is the hub</a:t>
            </a:r>
          </a:p>
        </p:txBody>
      </p:sp>
      <p:sp>
        <p:nvSpPr>
          <p:cNvPr id="4" name="TextBox 3"/>
          <p:cNvSpPr txBox="1"/>
          <p:nvPr/>
        </p:nvSpPr>
        <p:spPr>
          <a:xfrm>
            <a:off x="548640" y="1417320"/>
            <a:ext cx="6035040" cy="5029200"/>
          </a:xfrm>
          <a:prstGeom prst="rect">
            <a:avLst/>
          </a:prstGeom>
          <a:noFill/>
        </p:spPr>
        <p:txBody>
          <a:bodyPr wrap="square">
            <a:spAutoFit/>
          </a:bodyPr>
          <a:lstStyle/>
          <a:p>
            <a:pPr algn="l">
              <a:spcBef>
                <a:spcPts val="800"/>
              </a:spcBef>
            </a:pPr>
            <a:r>
              <a:rPr sz="1700" b="1">
                <a:solidFill>
                  <a:srgbClr val="1A1A1A"/>
                </a:solidFill>
                <a:latin typeface="Calibri"/>
              </a:rPr>
              <a:t>• Student is one entity — same person can be Host or Renter</a:t>
            </a:r>
          </a:p>
          <a:p>
            <a:pPr algn="l">
              <a:spcBef>
                <a:spcPts val="800"/>
              </a:spcBef>
            </a:pPr>
            <a:r>
              <a:rPr sz="1700" b="0">
                <a:solidFill>
                  <a:srgbClr val="1A1A1A"/>
                </a:solidFill>
                <a:latin typeface="Calibri"/>
              </a:rPr>
              <a:t>• 3 functional layers: actor identity / core transactions / trust &amp; risk</a:t>
            </a:r>
          </a:p>
          <a:p>
            <a:pPr algn="l">
              <a:spcBef>
                <a:spcPts val="800"/>
              </a:spcBef>
            </a:pPr>
            <a:r>
              <a:rPr sz="1700" b="1">
                <a:solidFill>
                  <a:srgbClr val="1A1A1A"/>
                </a:solidFill>
                <a:latin typeface="Calibri"/>
              </a:rPr>
              <a:t>• Booking resolves Student (Renter) × StorageListing M:N — carries status lifecycle</a:t>
            </a:r>
          </a:p>
          <a:p>
            <a:pPr algn="l">
              <a:spcBef>
                <a:spcPts val="800"/>
              </a:spcBef>
            </a:pPr>
            <a:r>
              <a:rPr sz="1700" b="1">
                <a:solidFill>
                  <a:srgbClr val="1A1A1A"/>
                </a:solidFill>
                <a:latin typeface="Calibri"/>
              </a:rPr>
              <a:t>• Review resolves mutual peer evaluation M:N — tied to verified Bookings</a:t>
            </a:r>
          </a:p>
          <a:p>
            <a:pPr algn="l">
              <a:spcBef>
                <a:spcPts val="800"/>
              </a:spcBef>
            </a:pPr>
            <a:r>
              <a:rPr sz="1700" b="0">
                <a:solidFill>
                  <a:srgbClr val="1A1A1A"/>
                </a:solidFill>
                <a:latin typeface="Calibri"/>
              </a:rPr>
              <a:t>• Downstream: StoredItem, Payment, Dispute, InsurancePolicy all attach to Booking</a:t>
            </a:r>
          </a:p>
        </p:txBody>
      </p:sp>
      <p:sp>
        <p:nvSpPr>
          <p:cNvPr id="5" name="Rectangle 4"/>
          <p:cNvSpPr/>
          <p:nvPr/>
        </p:nvSpPr>
        <p:spPr>
          <a:xfrm>
            <a:off x="6766560" y="1417320"/>
            <a:ext cx="4937760" cy="4754880"/>
          </a:xfrm>
          <a:prstGeom prst="rect">
            <a:avLst/>
          </a:prstGeom>
          <a:solidFill>
            <a:srgbClr val="F2F2F2"/>
          </a:solidFill>
          <a:ln w="1524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3520440"/>
            <a:ext cx="4754880" cy="548640"/>
          </a:xfrm>
          <a:prstGeom prst="rect">
            <a:avLst/>
          </a:prstGeom>
          <a:noFill/>
        </p:spPr>
        <p:txBody>
          <a:bodyPr wrap="square">
            <a:spAutoFit/>
          </a:bodyPr>
          <a:lstStyle/>
          <a:p>
            <a:pPr algn="ctr">
              <a:spcBef>
                <a:spcPts val="0"/>
              </a:spcBef>
            </a:pPr>
            <a:r>
              <a:rPr sz="1400" b="0">
                <a:solidFill>
                  <a:srgbClr val="AAAAAA"/>
                </a:solidFill>
                <a:latin typeface="Calibri"/>
              </a:rPr>
              <a:t>[ Insert ERD.png here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Value Chain</a:t>
            </a:r>
          </a:p>
          <a:p>
            <a:pPr algn="l">
              <a:spcBef>
                <a:spcPts val="0"/>
              </a:spcBef>
            </a:pPr>
            <a:r>
              <a:rPr sz="1400" b="0">
                <a:solidFill>
                  <a:srgbClr val="CCD9EA"/>
                </a:solidFill>
                <a:latin typeface="Calibri"/>
              </a:rPr>
              <a:t>Every primary activity is scoped to the campus boundary — by design</a:t>
            </a:r>
          </a:p>
        </p:txBody>
      </p:sp>
      <p:sp>
        <p:nvSpPr>
          <p:cNvPr id="4" name="TextBox 3"/>
          <p:cNvSpPr txBox="1"/>
          <p:nvPr/>
        </p:nvSpPr>
        <p:spPr>
          <a:xfrm>
            <a:off x="548640" y="1417320"/>
            <a:ext cx="6035040" cy="5029200"/>
          </a:xfrm>
          <a:prstGeom prst="rect">
            <a:avLst/>
          </a:prstGeom>
          <a:noFill/>
        </p:spPr>
        <p:txBody>
          <a:bodyPr wrap="square">
            <a:spAutoFit/>
          </a:bodyPr>
          <a:lstStyle/>
          <a:p>
            <a:pPr algn="l">
              <a:spcBef>
                <a:spcPts val="800"/>
              </a:spcBef>
            </a:pPr>
            <a:r>
              <a:rPr sz="1700" b="0">
                <a:solidFill>
                  <a:srgbClr val="1A1A1A"/>
                </a:solidFill>
                <a:latin typeface="Calibri"/>
              </a:rPr>
              <a:t>• Inbound Logistics: Host onboarding, .edu verification, Renter registration</a:t>
            </a:r>
          </a:p>
          <a:p>
            <a:pPr algn="l">
              <a:spcBef>
                <a:spcPts val="800"/>
              </a:spcBef>
            </a:pPr>
            <a:r>
              <a:rPr sz="1700" b="0">
                <a:solidFill>
                  <a:srgbClr val="1A1A1A"/>
                </a:solidFill>
                <a:latin typeface="Calibri"/>
              </a:rPr>
              <a:t>• Operations: search ranking, booking state mgmt, escrow, item photo registry</a:t>
            </a:r>
          </a:p>
          <a:p>
            <a:pPr algn="l">
              <a:spcBef>
                <a:spcPts val="800"/>
              </a:spcBef>
            </a:pPr>
            <a:r>
              <a:rPr sz="1700" b="0">
                <a:solidFill>
                  <a:srgbClr val="1A1A1A"/>
                </a:solidFill>
                <a:latin typeface="Calibri"/>
              </a:rPr>
              <a:t>• Outbound Logistics: on-campus handover, timestamped confirmation, return</a:t>
            </a:r>
          </a:p>
          <a:p>
            <a:pPr algn="l">
              <a:spcBef>
                <a:spcPts val="800"/>
              </a:spcBef>
            </a:pPr>
            <a:r>
              <a:rPr sz="1700" b="0">
                <a:solidFill>
                  <a:srgbClr val="1A1A1A"/>
                </a:solidFill>
                <a:latin typeface="Calibri"/>
              </a:rPr>
              <a:t>• Marketing &amp; Sales: student orgs, dorm boards, intl. student office, .edu lists</a:t>
            </a:r>
          </a:p>
          <a:p>
            <a:pPr algn="l">
              <a:spcBef>
                <a:spcPts val="800"/>
              </a:spcBef>
            </a:pPr>
            <a:r>
              <a:rPr sz="1700" b="0">
                <a:solidFill>
                  <a:srgbClr val="1A1A1A"/>
                </a:solidFill>
                <a:latin typeface="Calibri"/>
              </a:rPr>
              <a:t>• Service: dual reviews, dispute mediation, insurance claim assistance</a:t>
            </a:r>
          </a:p>
        </p:txBody>
      </p:sp>
      <p:sp>
        <p:nvSpPr>
          <p:cNvPr id="5" name="Rectangle 4"/>
          <p:cNvSpPr/>
          <p:nvPr/>
        </p:nvSpPr>
        <p:spPr>
          <a:xfrm>
            <a:off x="6766560" y="1417320"/>
            <a:ext cx="4937760" cy="4754880"/>
          </a:xfrm>
          <a:prstGeom prst="rect">
            <a:avLst/>
          </a:prstGeom>
          <a:solidFill>
            <a:srgbClr val="F2F2F2"/>
          </a:solidFill>
          <a:ln w="1524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3520440"/>
            <a:ext cx="4754880" cy="548640"/>
          </a:xfrm>
          <a:prstGeom prst="rect">
            <a:avLst/>
          </a:prstGeom>
          <a:noFill/>
        </p:spPr>
        <p:txBody>
          <a:bodyPr wrap="square">
            <a:spAutoFit/>
          </a:bodyPr>
          <a:lstStyle/>
          <a:p>
            <a:pPr algn="ctr">
              <a:spcBef>
                <a:spcPts val="0"/>
              </a:spcBef>
            </a:pPr>
            <a:r>
              <a:rPr sz="1400" b="0">
                <a:solidFill>
                  <a:srgbClr val="AAAAAA"/>
                </a:solidFill>
                <a:latin typeface="Calibri"/>
              </a:rPr>
              <a:t>[ Insert value_chain.png here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Business Execution — BPMN</a:t>
            </a:r>
          </a:p>
          <a:p>
            <a:pPr algn="l">
              <a:spcBef>
                <a:spcPts val="0"/>
              </a:spcBef>
            </a:pPr>
            <a:r>
              <a:rPr sz="1400" b="0">
                <a:solidFill>
                  <a:srgbClr val="CCD9EA"/>
                </a:solidFill>
                <a:latin typeface="Calibri"/>
              </a:rPr>
              <a:t>14 activities, 2 sub-processes, one complete storage transaction lifecycle</a:t>
            </a:r>
          </a:p>
        </p:txBody>
      </p:sp>
      <p:sp>
        <p:nvSpPr>
          <p:cNvPr id="4" name="TextBox 3"/>
          <p:cNvSpPr txBox="1"/>
          <p:nvPr/>
        </p:nvSpPr>
        <p:spPr>
          <a:xfrm>
            <a:off x="548640" y="1417320"/>
            <a:ext cx="6035040" cy="5029200"/>
          </a:xfrm>
          <a:prstGeom prst="rect">
            <a:avLst/>
          </a:prstGeom>
          <a:noFill/>
        </p:spPr>
        <p:txBody>
          <a:bodyPr wrap="square">
            <a:spAutoFit/>
          </a:bodyPr>
          <a:lstStyle/>
          <a:p>
            <a:pPr algn="l">
              <a:spcBef>
                <a:spcPts val="800"/>
              </a:spcBef>
            </a:pPr>
            <a:r>
              <a:rPr sz="1700" b="0">
                <a:solidFill>
                  <a:srgbClr val="1A1A1A"/>
                </a:solidFill>
                <a:latin typeface="Calibri"/>
              </a:rPr>
              <a:t>• Stage 1 — Search &amp; Select: Renter logs in, .edu verified, queries listings, submits Booking</a:t>
            </a:r>
          </a:p>
          <a:p>
            <a:pPr algn="l">
              <a:spcBef>
                <a:spcPts val="800"/>
              </a:spcBef>
            </a:pPr>
            <a:r>
              <a:rPr sz="1700" b="0">
                <a:solidFill>
                  <a:srgbClr val="1A1A1A"/>
                </a:solidFill>
                <a:latin typeface="Calibri"/>
              </a:rPr>
              <a:t>• Stage 2 — Confirm: Host approves/declines (XOR); Renter pays; System generates agreement</a:t>
            </a:r>
          </a:p>
          <a:p>
            <a:pPr algn="l">
              <a:spcBef>
                <a:spcPts val="800"/>
              </a:spcBef>
            </a:pPr>
            <a:r>
              <a:rPr sz="1700" b="0">
                <a:solidFill>
                  <a:srgbClr val="1A1A1A"/>
                </a:solidFill>
                <a:latin typeface="Calibri"/>
              </a:rPr>
              <a:t>• Stage 3 — Handover: both parties coordinate; System records 'active' status</a:t>
            </a:r>
          </a:p>
          <a:p>
            <a:pPr algn="l">
              <a:spcBef>
                <a:spcPts val="800"/>
              </a:spcBef>
            </a:pPr>
            <a:r>
              <a:rPr sz="1700" b="0">
                <a:solidFill>
                  <a:srgbClr val="1A1A1A"/>
                </a:solidFill>
                <a:latin typeface="Calibri"/>
              </a:rPr>
              <a:t>• Stage 4 — Closeout: return confirmed; mutual reviews written to Review table</a:t>
            </a:r>
          </a:p>
          <a:p>
            <a:pPr algn="l">
              <a:spcBef>
                <a:spcPts val="800"/>
              </a:spcBef>
            </a:pPr>
            <a:r>
              <a:rPr sz="1700" b="1">
                <a:solidFill>
                  <a:srgbClr val="1A1A1A"/>
                </a:solidFill>
                <a:latin typeface="Calibri"/>
              </a:rPr>
              <a:t>• Sub-processes: Payment Processing (Stripe) + Dispute Handling (exception path)</a:t>
            </a:r>
          </a:p>
        </p:txBody>
      </p:sp>
      <p:sp>
        <p:nvSpPr>
          <p:cNvPr id="5" name="Rectangle 4"/>
          <p:cNvSpPr/>
          <p:nvPr/>
        </p:nvSpPr>
        <p:spPr>
          <a:xfrm>
            <a:off x="6766560" y="1417320"/>
            <a:ext cx="4937760" cy="4754880"/>
          </a:xfrm>
          <a:prstGeom prst="rect">
            <a:avLst/>
          </a:prstGeom>
          <a:solidFill>
            <a:srgbClr val="F2F2F2"/>
          </a:solidFill>
          <a:ln w="1524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3520440"/>
            <a:ext cx="4754880" cy="548640"/>
          </a:xfrm>
          <a:prstGeom prst="rect">
            <a:avLst/>
          </a:prstGeom>
          <a:noFill/>
        </p:spPr>
        <p:txBody>
          <a:bodyPr wrap="square">
            <a:spAutoFit/>
          </a:bodyPr>
          <a:lstStyle/>
          <a:p>
            <a:pPr algn="ctr">
              <a:spcBef>
                <a:spcPts val="0"/>
              </a:spcBef>
            </a:pPr>
            <a:r>
              <a:rPr sz="1400" b="0">
                <a:solidFill>
                  <a:srgbClr val="AAAAAA"/>
                </a:solidFill>
                <a:latin typeface="Calibri"/>
              </a:rPr>
              <a:t>[ Insert BPMN.png here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1887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1672" cy="960120"/>
          </a:xfrm>
          <a:prstGeom prst="rect">
            <a:avLst/>
          </a:prstGeom>
          <a:noFill/>
        </p:spPr>
        <p:txBody>
          <a:bodyPr wrap="square">
            <a:spAutoFit/>
          </a:bodyPr>
          <a:lstStyle/>
          <a:p>
            <a:pPr algn="l">
              <a:spcBef>
                <a:spcPts val="0"/>
              </a:spcBef>
            </a:pPr>
            <a:r>
              <a:rPr sz="2800" b="1">
                <a:solidFill>
                  <a:srgbClr val="FFFFFF"/>
                </a:solidFill>
                <a:latin typeface="Calibri"/>
              </a:rPr>
              <a:t>Ethics, Limitations &amp; Future</a:t>
            </a:r>
          </a:p>
          <a:p>
            <a:pPr algn="l">
              <a:spcBef>
                <a:spcPts val="0"/>
              </a:spcBef>
            </a:pPr>
            <a:r>
              <a:rPr sz="1400" b="0">
                <a:solidFill>
                  <a:srgbClr val="CCD9EA"/>
                </a:solidFill>
                <a:latin typeface="Calibri"/>
              </a:rPr>
              <a:t>Inference risk is real — and we've designed against it</a:t>
            </a:r>
          </a:p>
        </p:txBody>
      </p:sp>
      <p:sp>
        <p:nvSpPr>
          <p:cNvPr id="4" name="Rectangle 3"/>
          <p:cNvSpPr/>
          <p:nvPr/>
        </p:nvSpPr>
        <p:spPr>
          <a:xfrm>
            <a:off x="548640" y="1417320"/>
            <a:ext cx="3566160" cy="38404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53896"/>
            <a:ext cx="3383280" cy="347472"/>
          </a:xfrm>
          <a:prstGeom prst="rect">
            <a:avLst/>
          </a:prstGeom>
          <a:noFill/>
        </p:spPr>
        <p:txBody>
          <a:bodyPr wrap="none">
            <a:spAutoFit/>
          </a:bodyPr>
          <a:lstStyle/>
          <a:p>
            <a:pPr algn="ctr">
              <a:spcBef>
                <a:spcPts val="0"/>
              </a:spcBef>
            </a:pPr>
            <a:r>
              <a:rPr sz="1600" b="1">
                <a:solidFill>
                  <a:srgbClr val="FFFFFF"/>
                </a:solidFill>
                <a:latin typeface="Calibri"/>
              </a:rPr>
              <a:t>Ethics</a:t>
            </a:r>
          </a:p>
        </p:txBody>
      </p:sp>
      <p:sp>
        <p:nvSpPr>
          <p:cNvPr id="6" name="Rectangle 5"/>
          <p:cNvSpPr/>
          <p:nvPr/>
        </p:nvSpPr>
        <p:spPr>
          <a:xfrm>
            <a:off x="4251960" y="1417320"/>
            <a:ext cx="3566160" cy="38404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1453896"/>
            <a:ext cx="3383280" cy="347472"/>
          </a:xfrm>
          <a:prstGeom prst="rect">
            <a:avLst/>
          </a:prstGeom>
          <a:noFill/>
        </p:spPr>
        <p:txBody>
          <a:bodyPr wrap="none">
            <a:spAutoFit/>
          </a:bodyPr>
          <a:lstStyle/>
          <a:p>
            <a:pPr algn="ctr">
              <a:spcBef>
                <a:spcPts val="0"/>
              </a:spcBef>
            </a:pPr>
            <a:r>
              <a:rPr sz="1600" b="1">
                <a:solidFill>
                  <a:srgbClr val="FFFFFF"/>
                </a:solidFill>
                <a:latin typeface="Calibri"/>
              </a:rPr>
              <a:t>Limitations</a:t>
            </a:r>
          </a:p>
        </p:txBody>
      </p:sp>
      <p:sp>
        <p:nvSpPr>
          <p:cNvPr id="8" name="Rectangle 7"/>
          <p:cNvSpPr/>
          <p:nvPr/>
        </p:nvSpPr>
        <p:spPr>
          <a:xfrm>
            <a:off x="7955280" y="1417320"/>
            <a:ext cx="3566160" cy="38404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453896"/>
            <a:ext cx="3383280" cy="347472"/>
          </a:xfrm>
          <a:prstGeom prst="rect">
            <a:avLst/>
          </a:prstGeom>
          <a:noFill/>
        </p:spPr>
        <p:txBody>
          <a:bodyPr wrap="none">
            <a:spAutoFit/>
          </a:bodyPr>
          <a:lstStyle/>
          <a:p>
            <a:pPr algn="ctr">
              <a:spcBef>
                <a:spcPts val="0"/>
              </a:spcBef>
            </a:pPr>
            <a:r>
              <a:rPr sz="1600" b="1">
                <a:solidFill>
                  <a:srgbClr val="FFFFFF"/>
                </a:solidFill>
                <a:latin typeface="Calibri"/>
              </a:rPr>
              <a:t>Future</a:t>
            </a:r>
          </a:p>
        </p:txBody>
      </p:sp>
      <p:sp>
        <p:nvSpPr>
          <p:cNvPr id="10" name="TextBox 9"/>
          <p:cNvSpPr txBox="1"/>
          <p:nvPr/>
        </p:nvSpPr>
        <p:spPr>
          <a:xfrm>
            <a:off x="548640" y="1892808"/>
            <a:ext cx="3566160" cy="4114800"/>
          </a:xfrm>
          <a:prstGeom prst="rect">
            <a:avLst/>
          </a:prstGeom>
          <a:noFill/>
        </p:spPr>
        <p:txBody>
          <a:bodyPr wrap="square">
            <a:spAutoFit/>
          </a:bodyPr>
          <a:lstStyle/>
          <a:p>
            <a:pPr>
              <a:spcBef>
                <a:spcPts val="600"/>
              </a:spcBef>
            </a:pPr>
            <a:r>
              <a:rPr sz="1400">
                <a:solidFill>
                  <a:srgbClr val="1A1A1A"/>
                </a:solidFill>
                <a:latin typeface="Calibri"/>
              </a:rPr>
              <a:t>• Combined exposure: verified identity + Host address + item photos</a:t>
            </a:r>
          </a:p>
          <a:p>
            <a:pPr>
              <a:spcBef>
                <a:spcPts val="600"/>
              </a:spcBef>
            </a:pPr>
            <a:r>
              <a:rPr sz="1400">
                <a:solidFill>
                  <a:srgbClr val="1A1A1A"/>
                </a:solidFill>
                <a:latin typeface="Calibri"/>
              </a:rPr>
              <a:t>• Disproportionate harm to international students</a:t>
            </a:r>
          </a:p>
          <a:p>
            <a:pPr>
              <a:spcBef>
                <a:spcPts val="600"/>
              </a:spcBef>
            </a:pPr>
            <a:r>
              <a:rPr sz="1400">
                <a:solidFill>
                  <a:srgbClr val="1A1A1A"/>
                </a:solidFill>
                <a:latin typeface="Calibri"/>
              </a:rPr>
              <a:t>• Mitigations: encrypted photos (purged 90 days), address withheld until confirmed, campus drop-off option</a:t>
            </a:r>
          </a:p>
        </p:txBody>
      </p:sp>
      <p:sp>
        <p:nvSpPr>
          <p:cNvPr id="11" name="TextBox 10"/>
          <p:cNvSpPr txBox="1"/>
          <p:nvPr/>
        </p:nvSpPr>
        <p:spPr>
          <a:xfrm>
            <a:off x="4251960" y="1892808"/>
            <a:ext cx="3566160" cy="4114800"/>
          </a:xfrm>
          <a:prstGeom prst="rect">
            <a:avLst/>
          </a:prstGeom>
          <a:noFill/>
        </p:spPr>
        <p:txBody>
          <a:bodyPr wrap="square">
            <a:spAutoFit/>
          </a:bodyPr>
          <a:lstStyle/>
          <a:p>
            <a:pPr>
              <a:spcBef>
                <a:spcPts val="600"/>
              </a:spcBef>
            </a:pPr>
            <a:r>
              <a:rPr sz="1400">
                <a:solidFill>
                  <a:srgbClr val="1A1A1A"/>
                </a:solidFill>
                <a:latin typeface="Calibri"/>
              </a:rPr>
              <a:t>• Single-campus scope only</a:t>
            </a:r>
          </a:p>
          <a:p>
            <a:pPr>
              <a:spcBef>
                <a:spcPts val="600"/>
              </a:spcBef>
            </a:pPr>
            <a:r>
              <a:rPr sz="1400">
                <a:solidFill>
                  <a:srgbClr val="1A1A1A"/>
                </a:solidFill>
                <a:latin typeface="Calibri"/>
              </a:rPr>
              <a:t>• Sparse early reviews (bootstrapping problem)</a:t>
            </a:r>
          </a:p>
          <a:p>
            <a:pPr>
              <a:spcBef>
                <a:spcPts val="600"/>
              </a:spcBef>
            </a:pPr>
            <a:r>
              <a:rPr sz="1400">
                <a:solidFill>
                  <a:srgbClr val="1A1A1A"/>
                </a:solidFill>
                <a:latin typeface="Calibri"/>
              </a:rPr>
              <a:t>• Insurance workflow undefined</a:t>
            </a:r>
          </a:p>
          <a:p>
            <a:pPr>
              <a:spcBef>
                <a:spcPts val="600"/>
              </a:spcBef>
            </a:pPr>
            <a:r>
              <a:rPr sz="1400">
                <a:solidFill>
                  <a:srgbClr val="1A1A1A"/>
                </a:solidFill>
                <a:latin typeface="Calibri"/>
              </a:rPr>
              <a:t>• No admin entity in ERD</a:t>
            </a:r>
          </a:p>
          <a:p>
            <a:pPr>
              <a:spcBef>
                <a:spcPts val="600"/>
              </a:spcBef>
            </a:pPr>
            <a:r>
              <a:rPr sz="1400">
                <a:solidFill>
                  <a:srgbClr val="1A1A1A"/>
                </a:solidFill>
                <a:latin typeface="Calibri"/>
              </a:rPr>
              <a:t>• Prohibited items not formally encoded</a:t>
            </a:r>
          </a:p>
        </p:txBody>
      </p:sp>
      <p:sp>
        <p:nvSpPr>
          <p:cNvPr id="12" name="TextBox 11"/>
          <p:cNvSpPr txBox="1"/>
          <p:nvPr/>
        </p:nvSpPr>
        <p:spPr>
          <a:xfrm>
            <a:off x="7955280" y="1892808"/>
            <a:ext cx="3566160" cy="4114800"/>
          </a:xfrm>
          <a:prstGeom prst="rect">
            <a:avLst/>
          </a:prstGeom>
          <a:noFill/>
        </p:spPr>
        <p:txBody>
          <a:bodyPr wrap="square">
            <a:spAutoFit/>
          </a:bodyPr>
          <a:lstStyle/>
          <a:p>
            <a:pPr>
              <a:spcBef>
                <a:spcPts val="600"/>
              </a:spcBef>
            </a:pPr>
            <a:r>
              <a:rPr sz="1400">
                <a:solidFill>
                  <a:srgbClr val="1A1A1A"/>
                </a:solidFill>
                <a:latin typeface="Calibri"/>
              </a:rPr>
              <a:t>• Cross-campus consortium</a:t>
            </a:r>
          </a:p>
          <a:p>
            <a:pPr>
              <a:spcBef>
                <a:spcPts val="600"/>
              </a:spcBef>
            </a:pPr>
            <a:r>
              <a:rPr sz="1400">
                <a:solidFill>
                  <a:srgbClr val="1A1A1A"/>
                </a:solidFill>
                <a:latin typeface="Calibri"/>
              </a:rPr>
              <a:t>• ML-based matching</a:t>
            </a:r>
          </a:p>
          <a:p>
            <a:pPr>
              <a:spcBef>
                <a:spcPts val="600"/>
              </a:spcBef>
            </a:pPr>
            <a:r>
              <a:rPr sz="1400">
                <a:solidFill>
                  <a:srgbClr val="1A1A1A"/>
                </a:solidFill>
                <a:latin typeface="Calibri"/>
              </a:rPr>
              <a:t>• Dynamic pricing</a:t>
            </a:r>
          </a:p>
          <a:p>
            <a:pPr>
              <a:spcBef>
                <a:spcPts val="600"/>
              </a:spcBef>
            </a:pPr>
            <a:r>
              <a:rPr sz="1400">
                <a:solidFill>
                  <a:srgbClr val="1A1A1A"/>
                </a:solidFill>
                <a:latin typeface="Calibri"/>
              </a:rPr>
              <a:t>• Logistics courier add-on</a:t>
            </a:r>
          </a:p>
          <a:p>
            <a:pPr>
              <a:spcBef>
                <a:spcPts val="600"/>
              </a:spcBef>
            </a:pPr>
            <a:r>
              <a:rPr sz="1400">
                <a:solidFill>
                  <a:srgbClr val="1A1A1A"/>
                </a:solidFill>
                <a:latin typeface="Calibri"/>
              </a:rPr>
              <a:t>• Licensed insurance partnership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760720"/>
            <a:ext cx="12188952" cy="54864"/>
          </a:xfrm>
          <a:prstGeom prst="rect">
            <a:avLst/>
          </a:prstGeom>
          <a:solidFill>
            <a:srgbClr val="E87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2880"/>
            <a:ext cx="11091672" cy="868680"/>
          </a:xfrm>
          <a:prstGeom prst="rect">
            <a:avLst/>
          </a:prstGeom>
          <a:noFill/>
        </p:spPr>
        <p:txBody>
          <a:bodyPr wrap="square">
            <a:spAutoFit/>
          </a:bodyPr>
          <a:lstStyle/>
          <a:p>
            <a:pPr algn="ctr">
              <a:spcBef>
                <a:spcPts val="0"/>
              </a:spcBef>
            </a:pPr>
            <a:r>
              <a:rPr sz="3000" b="1">
                <a:solidFill>
                  <a:srgbClr val="FFFFFF"/>
                </a:solidFill>
                <a:latin typeface="Calibri"/>
              </a:rPr>
              <a:t>One campus. One community. One trusted marketplace.</a:t>
            </a:r>
          </a:p>
        </p:txBody>
      </p:sp>
      <p:sp>
        <p:nvSpPr>
          <p:cNvPr id="6" name="Rectangle 5"/>
          <p:cNvSpPr/>
          <p:nvPr/>
        </p:nvSpPr>
        <p:spPr>
          <a:xfrm>
            <a:off x="548640" y="1325880"/>
            <a:ext cx="3291840" cy="1463040"/>
          </a:xfrm>
          <a:prstGeom prst="rect">
            <a:avLst/>
          </a:prstGeom>
          <a:solidFill>
            <a:srgbClr val="2E5F9E"/>
          </a:solidFill>
          <a:ln w="1524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3108960" cy="1280160"/>
          </a:xfrm>
          <a:prstGeom prst="rect">
            <a:avLst/>
          </a:prstGeom>
          <a:noFill/>
        </p:spPr>
        <p:txBody>
          <a:bodyPr wrap="square">
            <a:spAutoFit/>
          </a:bodyPr>
          <a:lstStyle/>
          <a:p>
            <a:pPr algn="ctr">
              <a:spcBef>
                <a:spcPts val="0"/>
              </a:spcBef>
            </a:pPr>
            <a:r>
              <a:rPr sz="1600" b="1">
                <a:solidFill>
                  <a:srgbClr val="E87722"/>
                </a:solidFill>
                <a:latin typeface="Calibri"/>
              </a:rPr>
              <a:t>#1  .edu identity wall</a:t>
            </a:r>
          </a:p>
          <a:p>
            <a:pPr algn="ctr">
              <a:spcBef>
                <a:spcPts val="600"/>
              </a:spcBef>
            </a:pPr>
            <a:r>
              <a:rPr sz="1300" b="0">
                <a:solidFill>
                  <a:srgbClr val="FFFFFF"/>
                </a:solidFill>
                <a:latin typeface="Calibri"/>
              </a:rPr>
              <a:t>Only verified students can participate</a:t>
            </a:r>
          </a:p>
        </p:txBody>
      </p:sp>
      <p:sp>
        <p:nvSpPr>
          <p:cNvPr id="8" name="Rectangle 7"/>
          <p:cNvSpPr/>
          <p:nvPr/>
        </p:nvSpPr>
        <p:spPr>
          <a:xfrm>
            <a:off x="4023360" y="1325880"/>
            <a:ext cx="3291840" cy="1463040"/>
          </a:xfrm>
          <a:prstGeom prst="rect">
            <a:avLst/>
          </a:prstGeom>
          <a:solidFill>
            <a:srgbClr val="2E5F9E"/>
          </a:solidFill>
          <a:ln w="1524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417320"/>
            <a:ext cx="3108960" cy="1280160"/>
          </a:xfrm>
          <a:prstGeom prst="rect">
            <a:avLst/>
          </a:prstGeom>
          <a:noFill/>
        </p:spPr>
        <p:txBody>
          <a:bodyPr wrap="square">
            <a:spAutoFit/>
          </a:bodyPr>
          <a:lstStyle/>
          <a:p>
            <a:pPr algn="ctr">
              <a:spcBef>
                <a:spcPts val="0"/>
              </a:spcBef>
            </a:pPr>
            <a:r>
              <a:rPr sz="1600" b="1">
                <a:solidFill>
                  <a:srgbClr val="E87722"/>
                </a:solidFill>
                <a:latin typeface="Calibri"/>
              </a:rPr>
              <a:t>#2  Dual-direction reviews</a:t>
            </a:r>
          </a:p>
          <a:p>
            <a:pPr algn="ctr">
              <a:spcBef>
                <a:spcPts val="600"/>
              </a:spcBef>
            </a:pPr>
            <a:r>
              <a:rPr sz="1300" b="0">
                <a:solidFill>
                  <a:srgbClr val="FFFFFF"/>
                </a:solidFill>
                <a:latin typeface="Calibri"/>
              </a:rPr>
              <a:t>Trust compounds with each transaction</a:t>
            </a:r>
          </a:p>
        </p:txBody>
      </p:sp>
      <p:sp>
        <p:nvSpPr>
          <p:cNvPr id="10" name="Rectangle 9"/>
          <p:cNvSpPr/>
          <p:nvPr/>
        </p:nvSpPr>
        <p:spPr>
          <a:xfrm>
            <a:off x="7498080" y="1325880"/>
            <a:ext cx="3291840" cy="1463040"/>
          </a:xfrm>
          <a:prstGeom prst="rect">
            <a:avLst/>
          </a:prstGeom>
          <a:solidFill>
            <a:srgbClr val="2E5F9E"/>
          </a:solidFill>
          <a:ln w="15240">
            <a:solidFill>
              <a:srgbClr val="E877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417320"/>
            <a:ext cx="3108960" cy="1280160"/>
          </a:xfrm>
          <a:prstGeom prst="rect">
            <a:avLst/>
          </a:prstGeom>
          <a:noFill/>
        </p:spPr>
        <p:txBody>
          <a:bodyPr wrap="square">
            <a:spAutoFit/>
          </a:bodyPr>
          <a:lstStyle/>
          <a:p>
            <a:pPr algn="ctr">
              <a:spcBef>
                <a:spcPts val="0"/>
              </a:spcBef>
            </a:pPr>
            <a:r>
              <a:rPr sz="1600" b="1">
                <a:solidFill>
                  <a:srgbClr val="E87722"/>
                </a:solidFill>
                <a:latin typeface="Calibri"/>
              </a:rPr>
              <a:t>#3  Deposit-escrow mechanism</a:t>
            </a:r>
          </a:p>
          <a:p>
            <a:pPr algn="ctr">
              <a:spcBef>
                <a:spcPts val="600"/>
              </a:spcBef>
            </a:pPr>
            <a:r>
              <a:rPr sz="1300" b="0">
                <a:solidFill>
                  <a:srgbClr val="FFFFFF"/>
                </a:solidFill>
                <a:latin typeface="Calibri"/>
              </a:rPr>
              <a:t>Aligned incentives for both parties</a:t>
            </a:r>
          </a:p>
        </p:txBody>
      </p:sp>
      <p:sp>
        <p:nvSpPr>
          <p:cNvPr id="12" name="TextBox 11"/>
          <p:cNvSpPr txBox="1"/>
          <p:nvPr/>
        </p:nvSpPr>
        <p:spPr>
          <a:xfrm>
            <a:off x="548640" y="3017520"/>
            <a:ext cx="11091672" cy="5029200"/>
          </a:xfrm>
          <a:prstGeom prst="rect">
            <a:avLst/>
          </a:prstGeom>
          <a:noFill/>
        </p:spPr>
        <p:txBody>
          <a:bodyPr wrap="square">
            <a:spAutoFit/>
          </a:bodyPr>
          <a:lstStyle/>
          <a:p>
            <a:pPr algn="l">
              <a:spcBef>
                <a:spcPts val="800"/>
              </a:spcBef>
            </a:pPr>
            <a:r>
              <a:rPr sz="1800" b="0">
                <a:solidFill>
                  <a:srgbClr val="CCD9EA"/>
                </a:solidFill>
                <a:latin typeface="Calibri"/>
              </a:rPr>
              <a:t>• $1.5M GMV addressable per campus at zero marginal infrastructure cost</a:t>
            </a:r>
          </a:p>
          <a:p>
            <a:pPr algn="l">
              <a:spcBef>
                <a:spcPts val="800"/>
              </a:spcBef>
            </a:pPr>
            <a:r>
              <a:rPr sz="1800" b="0">
                <a:solidFill>
                  <a:srgbClr val="CCD9EA"/>
                </a:solidFill>
                <a:latin typeface="Calibri"/>
              </a:rPr>
              <a:t>• First-mover on campus = brand + reviews + relationships hard to displace</a:t>
            </a:r>
          </a:p>
        </p:txBody>
      </p:sp>
      <p:sp>
        <p:nvSpPr>
          <p:cNvPr id="13" name="TextBox 12"/>
          <p:cNvSpPr txBox="1"/>
          <p:nvPr/>
        </p:nvSpPr>
        <p:spPr>
          <a:xfrm>
            <a:off x="548640" y="5852160"/>
            <a:ext cx="11091672" cy="731520"/>
          </a:xfrm>
          <a:prstGeom prst="rect">
            <a:avLst/>
          </a:prstGeom>
          <a:noFill/>
        </p:spPr>
        <p:txBody>
          <a:bodyPr wrap="none">
            <a:spAutoFit/>
          </a:bodyPr>
          <a:lstStyle/>
          <a:p>
            <a:pPr algn="ctr">
              <a:spcBef>
                <a:spcPts val="0"/>
              </a:spcBef>
            </a:pPr>
            <a:r>
              <a:rPr sz="1800" b="0">
                <a:solidFill>
                  <a:srgbClr val="FFFFFF"/>
                </a:solidFill>
                <a:latin typeface="Calibri"/>
              </a:rPr>
              <a:t>Thank you — we're happy to take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